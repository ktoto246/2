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6B973DD-A9D6-4AF0-87D7-36E7D2D6F2D2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5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10804"/>
            <a:ext cx="11601450" cy="16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Учет займов в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</a:br>
            <a:r>
              <a:rPr lang="en-US" sz="48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 коммерческом банке</a:t>
            </a: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37495"/>
            <a:ext cx="11049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Разработка макета приложения базы данных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</a:br>
            <a:r>
              <a:rPr lang="en-US" sz="2100" b="0" i="0" u="none" strike="noStrike" cap="none">
                <a:solidFill>
                  <a:srgbClr val="64748B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для автоматизации кредитных операций</a:t>
            </a:r>
          </a:p>
        </p:txBody>
      </p:sp>
      <p:sp>
        <p:nvSpPr>
          <p:cNvPr id="87" name="Google Shape;87;p13"/>
          <p:cNvSpPr/>
          <p:nvPr/>
        </p:nvSpPr>
        <p:spPr>
          <a:xfrm>
            <a:off x="5381625" y="4909095"/>
            <a:ext cx="142875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0782379C-65B7-ED30-CEA7-665759D70C1E}"/>
              </a:ext>
            </a:extLst>
          </p:cNvPr>
          <p:cNvSpPr txBox="1">
            <a:spLocks/>
          </p:cNvSpPr>
          <p:nvPr/>
        </p:nvSpPr>
        <p:spPr>
          <a:xfrm>
            <a:off x="2212531" y="5144907"/>
            <a:ext cx="7766936" cy="109689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по дисциплине «Разработка программных модулей»</a:t>
            </a:r>
          </a:p>
          <a:p>
            <a:pPr algn="ctr"/>
            <a:endParaRPr lang="ru-RU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студент группы ИП -31, ФИО</a:t>
            </a:r>
          </a:p>
          <a:p>
            <a:pPr algn="ctr"/>
            <a:r>
              <a:rPr lang="ru-RU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Проверил: Назарова И.А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0E359B-F4A8-D742-F82B-B8F655F27A0F}"/>
              </a:ext>
            </a:extLst>
          </p:cNvPr>
          <p:cNvSpPr txBox="1"/>
          <p:nvPr/>
        </p:nvSpPr>
        <p:spPr>
          <a:xfrm>
            <a:off x="0" y="104064"/>
            <a:ext cx="12191999" cy="1027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ru-RU" sz="1400" cap="all" dirty="0">
                <a:solidFill>
                  <a:srgbClr val="64748B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САРАТОВСКОЙ ОБЛАСТИ ГОСУДАРСТВЕННОЕ АВТОНОМНОЕ ПРФЕССИОНАЛЬНОЕ</a:t>
            </a:r>
            <a:endParaRPr lang="ru-RU" sz="1100" dirty="0">
              <a:solidFill>
                <a:srgbClr val="64748B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ru-RU" sz="1400" cap="all" dirty="0">
                <a:solidFill>
                  <a:srgbClr val="64748B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САРАТОВСКОЙ ОБЛАСТИ</a:t>
            </a:r>
            <a:endParaRPr lang="ru-RU" sz="1100" dirty="0">
              <a:solidFill>
                <a:srgbClr val="64748B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ru-RU" sz="1400" cap="all" dirty="0">
                <a:solidFill>
                  <a:srgbClr val="64748B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«БАЛАШОВСКИЙ ТЕХНИКУМ МЕХАНИЗАЦИИ СЕЛЬСКОГО ХОЗЯЙСТВА»</a:t>
            </a:r>
            <a:endParaRPr lang="ru-RU" sz="1100" dirty="0">
              <a:solidFill>
                <a:srgbClr val="64748B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08A1977-F2EA-CC0B-C01E-20CC744CD224}"/>
              </a:ext>
            </a:extLst>
          </p:cNvPr>
          <p:cNvSpPr txBox="1">
            <a:spLocks/>
          </p:cNvSpPr>
          <p:nvPr/>
        </p:nvSpPr>
        <p:spPr>
          <a:xfrm>
            <a:off x="2212531" y="6439519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Балашов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09625" y="571500"/>
            <a:ext cx="11351418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Цели и задачи проекта</a:t>
            </a:r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47750" y="2824162"/>
            <a:ext cx="10572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Проектирование БД: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Создание реляционной структуры для хранения данных клиентов и транзакций.</a:t>
            </a:r>
          </a:p>
        </p:txBody>
      </p:sp>
      <p:sp>
        <p:nvSpPr>
          <p:cNvPr id="96" name="Google Shape;96;p14"/>
          <p:cNvSpPr txBox="1"/>
          <p:nvPr/>
        </p:nvSpPr>
        <p:spPr>
          <a:xfrm>
            <a:off x="1047750" y="3376612"/>
            <a:ext cx="10572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Разработка интерфейса: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Создание удобной среды для работы кредитного специалиста на базе WPF.</a:t>
            </a:r>
          </a:p>
        </p:txBody>
      </p:sp>
      <p:sp>
        <p:nvSpPr>
          <p:cNvPr id="97" name="Google Shape;97;p14"/>
          <p:cNvSpPr txBox="1"/>
          <p:nvPr/>
        </p:nvSpPr>
        <p:spPr>
          <a:xfrm>
            <a:off x="1047750" y="3929062"/>
            <a:ext cx="10572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Автоматизация расчетов: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Реализация логики контроля лимитов и расчета выплат.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4481512"/>
            <a:ext cx="10572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Аналитика: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Внедрение визуализации данных для оценки кредитного портфеля.</a:t>
            </a: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8670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341947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1500" y="3971925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571500" y="4524375"/>
            <a:ext cx="3048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81750" y="17097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09625" y="571500"/>
            <a:ext cx="11351418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Актуальность автоматизации</a:t>
            </a:r>
          </a:p>
        </p:txBody>
      </p:sp>
      <p:sp>
        <p:nvSpPr>
          <p:cNvPr id="110" name="Google Shape;110;p15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4003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В современных банковских условиях ручной учет займов ведет к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критическим рискам</a:t>
            </a: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:</a:t>
            </a: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4676775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Переход на единую цифровую систему повышает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эффективность работы</a:t>
            </a: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 и прозрачность учета.</a:t>
            </a:r>
          </a:p>
        </p:txBody>
      </p:sp>
      <p:sp>
        <p:nvSpPr>
          <p:cNvPr id="114" name="Google Shape;114;p15"/>
          <p:cNvSpPr txBox="1"/>
          <p:nvPr/>
        </p:nvSpPr>
        <p:spPr>
          <a:xfrm>
            <a:off x="685800" y="32385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•</a:t>
            </a:r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3238500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Человеческий фактор при вводе данных.</a:t>
            </a:r>
          </a:p>
        </p:txBody>
      </p:sp>
      <p:sp>
        <p:nvSpPr>
          <p:cNvPr id="116" name="Google Shape;116;p15"/>
          <p:cNvSpPr txBox="1"/>
          <p:nvPr/>
        </p:nvSpPr>
        <p:spPr>
          <a:xfrm>
            <a:off x="685800" y="36957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•</a:t>
            </a:r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3695700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Сложность контроля сроков платежей.</a:t>
            </a:r>
          </a:p>
        </p:txBody>
      </p:sp>
      <p:sp>
        <p:nvSpPr>
          <p:cNvPr id="118" name="Google Shape;118;p15"/>
          <p:cNvSpPr txBox="1"/>
          <p:nvPr/>
        </p:nvSpPr>
        <p:spPr>
          <a:xfrm>
            <a:off x="685800" y="41529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•</a:t>
            </a:r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4152900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Отсутствие оперативной статистики.</a:t>
            </a:r>
          </a:p>
        </p:txBody>
      </p:sp>
      <p:pic>
        <p:nvPicPr>
          <p:cNvPr id="2" name="Изображение 1"/>
          <p:cNvPicPr/>
          <p:nvPr/>
        </p:nvPicPr>
        <p:blipFill>
          <a:blip r:embed="rId5"/>
          <a:stretch>
            <a:fillRect/>
          </a:stretch>
        </p:blipFill>
        <p:spPr>
          <a:xfrm>
            <a:off x="6620510" y="2400300"/>
            <a:ext cx="5341620" cy="2904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5000625"/>
            <a:ext cx="1104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800100"/>
            <a:ext cx="2390775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248025" y="800100"/>
            <a:ext cx="2390775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5924550" y="800100"/>
            <a:ext cx="3019425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229725" y="800100"/>
            <a:ext cx="2390775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09625" y="-47625"/>
            <a:ext cx="11351418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Логика работы приложения</a:t>
            </a:r>
          </a:p>
        </p:txBody>
      </p:sp>
      <p:sp>
        <p:nvSpPr>
          <p:cNvPr id="131" name="Google Shape;131;p16"/>
          <p:cNvSpPr/>
          <p:nvPr/>
        </p:nvSpPr>
        <p:spPr>
          <a:xfrm>
            <a:off x="571500" y="-47625"/>
            <a:ext cx="76200" cy="4667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571500" y="5000625"/>
            <a:ext cx="1104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11780" y="2066925"/>
            <a:ext cx="171021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Клиенты</a:t>
            </a:r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2552700"/>
            <a:ext cx="1628775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Регистрация заемщиков и ведение анкет с валидацией данных.</a:t>
            </a:r>
          </a:p>
        </p:txBody>
      </p:sp>
      <p:sp>
        <p:nvSpPr>
          <p:cNvPr id="135" name="Google Shape;135;p16"/>
          <p:cNvSpPr txBox="1"/>
          <p:nvPr/>
        </p:nvSpPr>
        <p:spPr>
          <a:xfrm>
            <a:off x="3588305" y="2066925"/>
            <a:ext cx="171021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Договоры</a:t>
            </a:r>
          </a:p>
        </p:txBody>
      </p:sp>
      <p:sp>
        <p:nvSpPr>
          <p:cNvPr id="136" name="Google Shape;136;p16"/>
          <p:cNvSpPr txBox="1"/>
          <p:nvPr/>
        </p:nvSpPr>
        <p:spPr>
          <a:xfrm>
            <a:off x="3629025" y="2552700"/>
            <a:ext cx="162877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Выдача займов на основе тарифных планов банка.</a:t>
            </a:r>
          </a:p>
        </p:txBody>
      </p:sp>
      <p:sp>
        <p:nvSpPr>
          <p:cNvPr id="137" name="Google Shape;137;p16"/>
          <p:cNvSpPr txBox="1"/>
          <p:nvPr/>
        </p:nvSpPr>
        <p:spPr>
          <a:xfrm>
            <a:off x="6249114" y="2066925"/>
            <a:ext cx="237029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Платежи</a:t>
            </a:r>
          </a:p>
        </p:txBody>
      </p:sp>
      <p:sp>
        <p:nvSpPr>
          <p:cNvPr id="138" name="Google Shape;138;p16"/>
          <p:cNvSpPr txBox="1"/>
          <p:nvPr/>
        </p:nvSpPr>
        <p:spPr>
          <a:xfrm>
            <a:off x="6305550" y="2552700"/>
            <a:ext cx="22574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Автоматизированный учет взносов и погашения долга.</a:t>
            </a:r>
          </a:p>
        </p:txBody>
      </p:sp>
      <p:sp>
        <p:nvSpPr>
          <p:cNvPr id="139" name="Google Shape;139;p16"/>
          <p:cNvSpPr txBox="1"/>
          <p:nvPr/>
        </p:nvSpPr>
        <p:spPr>
          <a:xfrm>
            <a:off x="9570005" y="2066925"/>
            <a:ext cx="171021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Контроль</a:t>
            </a:r>
          </a:p>
        </p:txBody>
      </p:sp>
      <p:sp>
        <p:nvSpPr>
          <p:cNvPr id="140" name="Google Shape;140;p16"/>
          <p:cNvSpPr txBox="1"/>
          <p:nvPr/>
        </p:nvSpPr>
        <p:spPr>
          <a:xfrm>
            <a:off x="9610725" y="2552700"/>
            <a:ext cx="1628775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Отслеживание статусов «Активен», «Закрыт» и «Просрочен».</a:t>
            </a:r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466850" y="131445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4262437" y="131445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7167562" y="13144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10186987" y="13144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09625" y="571500"/>
            <a:ext cx="11351418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Структура базы данных</a:t>
            </a:r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76200" cy="4667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20574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Times New Roman" panose="02020603050405020304" charset="0"/>
                <a:ea typeface="Open Sans"/>
                <a:cs typeface="Times New Roman" panose="02020603050405020304" charset="0"/>
                <a:sym typeface="Open Sans"/>
              </a:rPr>
              <a:t>Реляционная модель включает 4 основные сущности:</a:t>
            </a:r>
          </a:p>
        </p:txBody>
      </p:sp>
      <p:graphicFrame>
        <p:nvGraphicFramePr>
          <p:cNvPr id="153" name="Google Shape;153;p17"/>
          <p:cNvGraphicFramePr/>
          <p:nvPr/>
        </p:nvGraphicFramePr>
        <p:xfrm>
          <a:off x="571500" y="2752725"/>
          <a:ext cx="11049000" cy="3105125"/>
        </p:xfrm>
        <a:graphic>
          <a:graphicData uri="http://schemas.openxmlformats.org/drawingml/2006/table">
            <a:tbl>
              <a:tblPr firstRow="1" bandRow="1">
                <a:noFill/>
                <a:tableStyleId>{D6B973DD-A9D6-4AF0-87D7-36E7D2D6F2D2}</a:tableStyleId>
              </a:tblPr>
              <a:tblGrid>
                <a:gridCol w="27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Таблица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Назначение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Ключевые поля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Клиенты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База персональных данных заемщиков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ID, ФИО, Паспорт, Телефон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Кредитные Продукты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Справочник условий (тарифы)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Название, Процент, Макс. сумма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Займы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Журнал выданных договоров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ID_Клиента, ID_Продукта, Сумма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Платежи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История финансовых транзакций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Times New Roman" panose="02020603050405020304" charset="0"/>
                          <a:ea typeface="Open Sans"/>
                          <a:cs typeface="Times New Roman" panose="02020603050405020304" charset="0"/>
                          <a:sym typeface="Open Sans"/>
                        </a:rPr>
                        <a:t>ID_Займа, Сумма, Дата, Тип</a:t>
                      </a:r>
                    </a:p>
                  </a:txBody>
                  <a:tcPr marL="63500" marR="63500" marT="25400" marB="2540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4" name="Google Shape;154;p17"/>
          <p:cNvSpPr/>
          <p:nvPr/>
        </p:nvSpPr>
        <p:spPr>
          <a:xfrm>
            <a:off x="571500" y="4014787"/>
            <a:ext cx="2730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301900" y="4014787"/>
            <a:ext cx="4508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810351" y="4014787"/>
            <a:ext cx="3810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295275" y="1900237"/>
            <a:ext cx="11601450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Times New Roman" panose="02020603050405020304" charset="0"/>
                <a:ea typeface="Montserrat"/>
                <a:cs typeface="Times New Roman" panose="02020603050405020304" charset="0"/>
                <a:sym typeface="Montserrat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Широкоэкранный</PresentationFormat>
  <Paragraphs>51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ГАПОУ СО БТМСХ</cp:lastModifiedBy>
  <cp:revision>3</cp:revision>
  <dcterms:created xsi:type="dcterms:W3CDTF">2026-04-29T17:45:00Z</dcterms:created>
  <dcterms:modified xsi:type="dcterms:W3CDTF">2026-04-30T08:41:16Z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488FE3118D4E46759883CF74B26897E5_12</vt:lpwstr>
  </property>
  <property fmtid="{D5CDD505-2E9C-101B-9397-08002B2CF9AE}" pid="3" name="KSOProductBuildVer">
    <vt:lpwstr>1049-12.1.0.25862</vt:lpwstr>
  </property>
</Properties>
</file>