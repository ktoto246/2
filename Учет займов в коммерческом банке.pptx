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embeddedFontLst>
    <p:embeddedFont>
      <p:font typeface="Calibri" panose="020F0502020204030204"/>
      <p:regular r:id="rId13"/>
      <p:bold r:id="rId14"/>
      <p:italic r:id="rId15"/>
      <p:boldItalic r:id="rId16"/>
    </p:embeddedFont>
    <p:embeddedFont>
      <p:font typeface="Montserrat"/>
      <p:regular r:id="rId17"/>
      <p:bold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000000"/>
          </p15:clr>
        </p15:guide>
        <p15:guide id="2" pos="288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6B973DD-A9D6-4AF0-87D7-36E7D2D6F2D2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3" Type="http://schemas.openxmlformats.org/officeDocument/2006/relationships/font" Target="fonts/font11.fntdata"/><Relationship Id="rId22" Type="http://schemas.openxmlformats.org/officeDocument/2006/relationships/font" Target="fonts/font10.fntdata"/><Relationship Id="rId21" Type="http://schemas.openxmlformats.org/officeDocument/2006/relationships/font" Target="fonts/font9.fntdata"/><Relationship Id="rId20" Type="http://schemas.openxmlformats.org/officeDocument/2006/relationships/font" Target="fonts/font8.fntdata"/><Relationship Id="rId2" Type="http://schemas.openxmlformats.org/officeDocument/2006/relationships/theme" Target="theme/theme1.xml"/><Relationship Id="rId19" Type="http://schemas.openxmlformats.org/officeDocument/2006/relationships/font" Target="fonts/font7.fntdata"/><Relationship Id="rId18" Type="http://schemas.openxmlformats.org/officeDocument/2006/relationships/font" Target="fonts/font6.fntdata"/><Relationship Id="rId17" Type="http://schemas.openxmlformats.org/officeDocument/2006/relationships/font" Target="fonts/font5.fntdata"/><Relationship Id="rId16" Type="http://schemas.openxmlformats.org/officeDocument/2006/relationships/font" Target="fonts/font4.fntdata"/><Relationship Id="rId15" Type="http://schemas.openxmlformats.org/officeDocument/2006/relationships/font" Target="fonts/font3.fntdata"/><Relationship Id="rId14" Type="http://schemas.openxmlformats.org/officeDocument/2006/relationships/font" Target="fonts/font2.fntdata"/><Relationship Id="rId13" Type="http://schemas.openxmlformats.org/officeDocument/2006/relationships/font" Target="fonts/font1.fntdata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" name="Google Shape;90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" name="Google Shape;105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2" name="Google Shape;122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" name="Google Shape;147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8" name="Google Shape;168;p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7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7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image" Target="../media/image14.png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2" Type="http://schemas.openxmlformats.org/officeDocument/2006/relationships/notesSlide" Target="../notesSlides/notesSlide4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6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1910804"/>
            <a:ext cx="11601450" cy="162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005088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Учет займов в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Times New Roman" panose="02020603050405020304" charset="0"/>
                <a:ea typeface="Calibri" panose="020F0502020204030204"/>
                <a:cs typeface="Times New Roman" panose="02020603050405020304" charset="0"/>
                <a:sym typeface="Calibri" panose="020F0502020204030204"/>
              </a:rPr>
            </a:br>
            <a:r>
              <a:rPr lang="en-US" sz="4800" b="1" i="0" u="none" strike="noStrike" cap="none">
                <a:solidFill>
                  <a:srgbClr val="005088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 коммерческом банке</a:t>
            </a:r>
            <a:endParaRPr lang="en-US" sz="4800" b="1" i="0" u="none" strike="noStrike" cap="none">
              <a:solidFill>
                <a:srgbClr val="005088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3537495"/>
            <a:ext cx="110490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64748B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Разработка макета приложения базы данных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Times New Roman" panose="02020603050405020304" charset="0"/>
                <a:ea typeface="Calibri" panose="020F0502020204030204"/>
                <a:cs typeface="Times New Roman" panose="02020603050405020304" charset="0"/>
                <a:sym typeface="Calibri" panose="020F0502020204030204"/>
              </a:rPr>
            </a:br>
            <a:r>
              <a:rPr lang="en-US" sz="2100" b="0" i="0" u="none" strike="noStrike" cap="none">
                <a:solidFill>
                  <a:srgbClr val="64748B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для автоматизации кредитных операций</a:t>
            </a:r>
            <a:endParaRPr lang="en-US" sz="2100" b="0" i="0" u="none" strike="noStrike" cap="none">
              <a:solidFill>
                <a:srgbClr val="64748B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5381625" y="4909095"/>
            <a:ext cx="1428750" cy="381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809625" y="571500"/>
            <a:ext cx="11351418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Цели и задачи проекта</a:t>
            </a:r>
            <a:endParaRPr lang="en-US" sz="3000" b="1" i="0" u="none" strike="noStrike" cap="none">
              <a:solidFill>
                <a:srgbClr val="005088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94" name="Google Shape;94;p14"/>
          <p:cNvSpPr/>
          <p:nvPr/>
        </p:nvSpPr>
        <p:spPr>
          <a:xfrm>
            <a:off x="571500" y="571500"/>
            <a:ext cx="76200" cy="4667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1047750" y="2824162"/>
            <a:ext cx="105727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Проектирование БД:</a:t>
            </a: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Создание реляционной структуры для хранения данных клиентов и транзакций.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1047750" y="3376612"/>
            <a:ext cx="105727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Разработка интерфейса:</a:t>
            </a: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Создание удобной среды для работы кредитного специалиста на базе WPF.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1047750" y="3929062"/>
            <a:ext cx="105727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Автоматизация расчетов:</a:t>
            </a: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Реализация логики контроля лимитов и расчета выплат.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1047750" y="4481512"/>
            <a:ext cx="105727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Аналитика:</a:t>
            </a: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Внедрение визуализации данных для оценки кредитного портфеля.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867025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3419475"/>
            <a:ext cx="33337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3971925"/>
            <a:ext cx="20002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571500" y="4524375"/>
            <a:ext cx="304800" cy="27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381750" y="1709737"/>
            <a:ext cx="523875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809625" y="571500"/>
            <a:ext cx="11351418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Актуальность автоматизации</a:t>
            </a:r>
            <a:endParaRPr lang="en-US" sz="3000" b="1" i="0" u="none" strike="noStrike" cap="none">
              <a:solidFill>
                <a:srgbClr val="005088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10" name="Google Shape;110;p15"/>
          <p:cNvSpPr/>
          <p:nvPr/>
        </p:nvSpPr>
        <p:spPr>
          <a:xfrm>
            <a:off x="571500" y="571500"/>
            <a:ext cx="76200" cy="4667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11" name="Google Shape;111;p15"/>
          <p:cNvSpPr txBox="1"/>
          <p:nvPr/>
        </p:nvSpPr>
        <p:spPr>
          <a:xfrm>
            <a:off x="571500" y="2400300"/>
            <a:ext cx="52387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В современных банковских условиях ручной учет займов ведет к </a:t>
            </a:r>
            <a:r>
              <a:rPr lang="en-US" sz="1650" b="1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критическим рискам</a:t>
            </a: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: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4676775"/>
            <a:ext cx="52387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Переход на единую цифровую систему повышает </a:t>
            </a:r>
            <a:r>
              <a:rPr lang="en-US" sz="1650" b="1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эффективность работы</a:t>
            </a: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 и прозрачность учета.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685800" y="3238500"/>
            <a:ext cx="762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•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762000" y="3238500"/>
            <a:ext cx="50482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Человеческий фактор при вводе данных.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685800" y="3695700"/>
            <a:ext cx="762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•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762000" y="3695700"/>
            <a:ext cx="50482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Сложность контроля сроков платежей.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685800" y="4152900"/>
            <a:ext cx="762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•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762000" y="4152900"/>
            <a:ext cx="50482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Отсутствие оперативной статистики.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pic>
        <p:nvPicPr>
          <p:cNvPr id="2" name="Изображение 1"/>
          <p:cNvPicPr/>
          <p:nvPr/>
        </p:nvPicPr>
        <p:blipFill>
          <a:blip r:embed="rId3"/>
          <a:stretch>
            <a:fillRect/>
          </a:stretch>
        </p:blipFill>
        <p:spPr>
          <a:xfrm>
            <a:off x="6620510" y="2400300"/>
            <a:ext cx="5341620" cy="29044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6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5000625"/>
            <a:ext cx="11049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800100"/>
            <a:ext cx="2390775" cy="3914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3248025" y="800100"/>
            <a:ext cx="2390775" cy="3914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5924550" y="800100"/>
            <a:ext cx="3019425" cy="3914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9229725" y="800100"/>
            <a:ext cx="2390775" cy="3914775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6"/>
          <p:cNvSpPr txBox="1"/>
          <p:nvPr/>
        </p:nvSpPr>
        <p:spPr>
          <a:xfrm>
            <a:off x="809625" y="-47625"/>
            <a:ext cx="11351418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Логика работы приложения</a:t>
            </a:r>
            <a:endParaRPr lang="en-US" sz="3000" b="1" i="0" u="none" strike="noStrike" cap="none">
              <a:solidFill>
                <a:srgbClr val="005088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571500" y="-47625"/>
            <a:ext cx="76200" cy="4667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pic>
        <p:nvPicPr>
          <p:cNvPr id="132" name="Google Shape;132;p16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571500" y="5000625"/>
            <a:ext cx="11049000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911780" y="2066925"/>
            <a:ext cx="171021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Клиенты</a:t>
            </a:r>
            <a:endParaRPr lang="en-US" sz="1800" b="1" i="0" u="none" strike="noStrike" cap="none">
              <a:solidFill>
                <a:srgbClr val="005088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34" name="Google Shape;134;p16"/>
          <p:cNvSpPr txBox="1"/>
          <p:nvPr/>
        </p:nvSpPr>
        <p:spPr>
          <a:xfrm>
            <a:off x="952500" y="2552700"/>
            <a:ext cx="1628775" cy="157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Регистрация заемщиков и ведение анкет с валидацией данных.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3588305" y="2066925"/>
            <a:ext cx="171021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Договоры</a:t>
            </a:r>
            <a:endParaRPr lang="en-US" sz="1800" b="1" i="0" u="none" strike="noStrike" cap="none">
              <a:solidFill>
                <a:srgbClr val="005088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36" name="Google Shape;136;p16"/>
          <p:cNvSpPr txBox="1"/>
          <p:nvPr/>
        </p:nvSpPr>
        <p:spPr>
          <a:xfrm>
            <a:off x="3629025" y="2552700"/>
            <a:ext cx="1628775" cy="12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Выдача займов на основе тарифных планов банка.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6249114" y="2066925"/>
            <a:ext cx="2370296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Платежи</a:t>
            </a:r>
            <a:endParaRPr lang="en-US" sz="1800" b="1" i="0" u="none" strike="noStrike" cap="none">
              <a:solidFill>
                <a:srgbClr val="005088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38" name="Google Shape;138;p16"/>
          <p:cNvSpPr txBox="1"/>
          <p:nvPr/>
        </p:nvSpPr>
        <p:spPr>
          <a:xfrm>
            <a:off x="6305550" y="2552700"/>
            <a:ext cx="2257425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Автоматизированный учет взносов и погашения долга.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sp>
        <p:nvSpPr>
          <p:cNvPr id="139" name="Google Shape;139;p16"/>
          <p:cNvSpPr txBox="1"/>
          <p:nvPr/>
        </p:nvSpPr>
        <p:spPr>
          <a:xfrm>
            <a:off x="9570005" y="2066925"/>
            <a:ext cx="171021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Контроль</a:t>
            </a:r>
            <a:endParaRPr lang="en-US" sz="1800" b="1" i="0" u="none" strike="noStrike" cap="none">
              <a:solidFill>
                <a:srgbClr val="005088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9610725" y="2552700"/>
            <a:ext cx="1628775" cy="157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Отслеживание статусов «Активен», «Закрыт» и «Просрочен».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pic>
        <p:nvPicPr>
          <p:cNvPr id="141" name="Google Shape;141;p16" descr="image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1466850" y="1314450"/>
            <a:ext cx="600075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8"/>
          <a:srcRect/>
          <a:stretch>
            <a:fillRect/>
          </a:stretch>
        </p:blipFill>
        <p:spPr>
          <a:xfrm>
            <a:off x="4262437" y="1314450"/>
            <a:ext cx="3619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6" descr="image.png"/>
          <p:cNvPicPr preferRelativeResize="0"/>
          <p:nvPr/>
        </p:nvPicPr>
        <p:blipFill rotWithShape="1">
          <a:blip r:embed="rId9"/>
          <a:srcRect/>
          <a:stretch>
            <a:fillRect/>
          </a:stretch>
        </p:blipFill>
        <p:spPr>
          <a:xfrm>
            <a:off x="7167562" y="1314450"/>
            <a:ext cx="5334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6" descr="image.png"/>
          <p:cNvPicPr preferRelativeResize="0"/>
          <p:nvPr/>
        </p:nvPicPr>
        <p:blipFill rotWithShape="1">
          <a:blip r:embed="rId10"/>
          <a:srcRect/>
          <a:stretch>
            <a:fillRect/>
          </a:stretch>
        </p:blipFill>
        <p:spPr>
          <a:xfrm>
            <a:off x="10186987" y="1314450"/>
            <a:ext cx="47625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7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7"/>
          <p:cNvSpPr txBox="1"/>
          <p:nvPr/>
        </p:nvSpPr>
        <p:spPr>
          <a:xfrm>
            <a:off x="809625" y="571500"/>
            <a:ext cx="11351418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Структура базы данных</a:t>
            </a:r>
            <a:endParaRPr lang="en-US" sz="3000" b="1" i="0" u="none" strike="noStrike" cap="none">
              <a:solidFill>
                <a:srgbClr val="005088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571500" y="571500"/>
            <a:ext cx="76200" cy="466725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571500" y="2057400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Times New Roman" panose="02020603050405020304" charset="0"/>
                <a:ea typeface="Open Sans"/>
                <a:cs typeface="Times New Roman" panose="02020603050405020304" charset="0"/>
                <a:sym typeface="Open Sans"/>
              </a:rPr>
              <a:t>Реляционная модель включает 4 основные сущности:</a:t>
            </a:r>
            <a:endParaRPr lang="en-US" sz="1650" b="0" i="0" u="none" strike="noStrike" cap="none">
              <a:solidFill>
                <a:srgbClr val="475569"/>
              </a:solidFill>
              <a:latin typeface="Times New Roman" panose="02020603050405020304" charset="0"/>
              <a:ea typeface="Open Sans"/>
              <a:cs typeface="Times New Roman" panose="02020603050405020304" charset="0"/>
              <a:sym typeface="Open Sans"/>
            </a:endParaRPr>
          </a:p>
        </p:txBody>
      </p:sp>
      <p:graphicFrame>
        <p:nvGraphicFramePr>
          <p:cNvPr id="153" name="Google Shape;153;p17"/>
          <p:cNvGraphicFramePr/>
          <p:nvPr/>
        </p:nvGraphicFramePr>
        <p:xfrm>
          <a:off x="571500" y="2752725"/>
          <a:ext cx="11049000" cy="3105125"/>
        </p:xfrm>
        <a:graphic>
          <a:graphicData uri="http://schemas.openxmlformats.org/drawingml/2006/table">
            <a:tbl>
              <a:tblPr firstRow="1" bandRow="1">
                <a:noFill/>
                <a:tableStyleId>{D6B973DD-A9D6-4AF0-87D7-36E7D2D6F2D2}</a:tableStyleId>
              </a:tblPr>
              <a:tblGrid>
                <a:gridCol w="2730400"/>
                <a:gridCol w="4508450"/>
                <a:gridCol w="3810150"/>
              </a:tblGrid>
              <a:tr h="62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Таблица</a:t>
                      </a:r>
                      <a:endParaRPr lang="en-US" sz="1650" b="1" i="0" u="none" strike="noStrike" cap="none">
                        <a:solidFill>
                          <a:srgbClr val="FFFFFF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Назначение</a:t>
                      </a:r>
                      <a:endParaRPr lang="en-US" sz="1650" b="1" i="0" u="none" strike="noStrike" cap="none">
                        <a:solidFill>
                          <a:srgbClr val="FFFFFF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Ключевые поля</a:t>
                      </a:r>
                      <a:endParaRPr lang="en-US" sz="1650" b="1" i="0" u="none" strike="noStrike" cap="none">
                        <a:solidFill>
                          <a:srgbClr val="FFFFFF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5088"/>
                    </a:solidFill>
                  </a:tcPr>
                </a:tc>
              </a:tr>
              <a:tr h="62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Клиенты</a:t>
                      </a:r>
                      <a:endParaRPr lang="en-US" sz="1500" b="1" i="0" u="none" strike="noStrike" cap="none">
                        <a:solidFill>
                          <a:srgbClr val="1E293B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База персональных данных заемщиков</a:t>
                      </a:r>
                      <a:endParaRPr lang="en-US" sz="1500" b="0" i="0" u="none" strike="noStrike" cap="none">
                        <a:solidFill>
                          <a:srgbClr val="1E293B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ID, ФИО, Паспорт, Телефон</a:t>
                      </a:r>
                      <a:endParaRPr lang="en-US" sz="1500" b="0" i="0" u="none" strike="noStrike" cap="none">
                        <a:solidFill>
                          <a:srgbClr val="1E293B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62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Кредитные Продукты</a:t>
                      </a:r>
                      <a:endParaRPr lang="en-US" sz="1500" b="1" i="0" u="none" strike="noStrike" cap="none">
                        <a:solidFill>
                          <a:srgbClr val="1E293B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Справочник условий (тарифы)</a:t>
                      </a:r>
                      <a:endParaRPr lang="en-US" sz="1500" b="0" i="0" u="none" strike="noStrike" cap="none">
                        <a:solidFill>
                          <a:srgbClr val="1E293B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Название, Процент, Макс. сумма</a:t>
                      </a:r>
                      <a:endParaRPr lang="en-US" sz="1500" b="0" i="0" u="none" strike="noStrike" cap="none">
                        <a:solidFill>
                          <a:srgbClr val="1E293B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1F5F9"/>
                    </a:solidFill>
                  </a:tcPr>
                </a:tc>
              </a:tr>
              <a:tr h="62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Займы</a:t>
                      </a:r>
                      <a:endParaRPr lang="en-US" sz="1500" b="1" i="0" u="none" strike="noStrike" cap="none">
                        <a:solidFill>
                          <a:srgbClr val="1E293B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Журнал выданных договоров</a:t>
                      </a:r>
                      <a:endParaRPr lang="en-US" sz="1500" b="0" i="0" u="none" strike="noStrike" cap="none">
                        <a:solidFill>
                          <a:srgbClr val="1E293B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ID_Клиента, ID_Продукта, Сумма</a:t>
                      </a:r>
                      <a:endParaRPr lang="en-US" sz="1500" b="0" i="0" u="none" strike="noStrike" cap="none">
                        <a:solidFill>
                          <a:srgbClr val="1E293B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621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Платежи</a:t>
                      </a:r>
                      <a:endParaRPr lang="en-US" sz="1500" b="1" i="0" u="none" strike="noStrike" cap="none">
                        <a:solidFill>
                          <a:srgbClr val="1E293B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История финансовых транзакций</a:t>
                      </a:r>
                      <a:endParaRPr lang="en-US" sz="1500" b="0" i="0" u="none" strike="noStrike" cap="none">
                        <a:solidFill>
                          <a:srgbClr val="1E293B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1E293B"/>
                          </a:solidFill>
                          <a:latin typeface="Times New Roman" panose="02020603050405020304" charset="0"/>
                          <a:ea typeface="Open Sans"/>
                          <a:cs typeface="Times New Roman" panose="02020603050405020304" charset="0"/>
                          <a:sym typeface="Open Sans"/>
                        </a:rPr>
                        <a:t>ID_Займа, Сумма, Дата, Тип</a:t>
                      </a:r>
                      <a:endParaRPr lang="en-US" sz="1500" b="0" i="0" u="none" strike="noStrike" cap="none">
                        <a:solidFill>
                          <a:srgbClr val="1E293B"/>
                        </a:solidFill>
                        <a:latin typeface="Times New Roman" panose="02020603050405020304" charset="0"/>
                        <a:ea typeface="Open Sans"/>
                        <a:cs typeface="Times New Roman" panose="02020603050405020304" charset="0"/>
                        <a:sym typeface="Open Sans"/>
                      </a:endParaRPr>
                    </a:p>
                  </a:txBody>
                  <a:tcPr marL="63500" marR="63500" marT="25400" marB="25400" anchor="ctr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54" name="Google Shape;154;p17"/>
          <p:cNvSpPr/>
          <p:nvPr/>
        </p:nvSpPr>
        <p:spPr>
          <a:xfrm>
            <a:off x="571500" y="4014787"/>
            <a:ext cx="27304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3301900" y="4014787"/>
            <a:ext cx="45084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7810351" y="4014787"/>
            <a:ext cx="3810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Times New Roman" panose="02020603050405020304" charset="0"/>
              <a:ea typeface="Calibri" panose="020F0502020204030204"/>
              <a:cs typeface="Times New Roman" panose="02020603050405020304" charset="0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8"/>
          <p:cNvSpPr txBox="1"/>
          <p:nvPr/>
        </p:nvSpPr>
        <p:spPr>
          <a:xfrm>
            <a:off x="295275" y="1900237"/>
            <a:ext cx="11601450" cy="923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005088"/>
                </a:solidFill>
                <a:latin typeface="Times New Roman" panose="02020603050405020304" charset="0"/>
                <a:ea typeface="Montserrat"/>
                <a:cs typeface="Times New Roman" panose="02020603050405020304" charset="0"/>
                <a:sym typeface="Montserrat"/>
              </a:rPr>
              <a:t>Спасибо за внимание!</a:t>
            </a:r>
            <a:endParaRPr lang="en-US" sz="6000" b="1" i="0" u="none" strike="noStrike" cap="none">
              <a:solidFill>
                <a:srgbClr val="005088"/>
              </a:solidFill>
              <a:latin typeface="Times New Roman" panose="02020603050405020304" charset="0"/>
              <a:ea typeface="Montserrat"/>
              <a:cs typeface="Times New Roman" panose="02020603050405020304" charset="0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1413</Words>
  <Application>WPS Presentation</Application>
  <PresentationFormat/>
  <Paragraphs>86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8" baseType="lpstr">
      <vt:lpstr>Arial</vt:lpstr>
      <vt:lpstr>SimSun</vt:lpstr>
      <vt:lpstr>Wingdings</vt:lpstr>
      <vt:lpstr>Arial</vt:lpstr>
      <vt:lpstr>Calibri</vt:lpstr>
      <vt:lpstr>Montserrat</vt:lpstr>
      <vt:lpstr>Open Sans</vt:lpstr>
      <vt:lpstr>Open Sans SemiBold</vt:lpstr>
      <vt:lpstr>Microsoft YaHei</vt:lpstr>
      <vt:lpstr>Arial Unicode MS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Кирилл Шепелев</cp:lastModifiedBy>
  <cp:revision>2</cp:revision>
  <dcterms:created xsi:type="dcterms:W3CDTF">2026-04-29T17:45:00Z</dcterms:created>
  <dcterms:modified xsi:type="dcterms:W3CDTF">2026-04-29T18:01:27Z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488FE3118D4E46759883CF74B26897E5_12</vt:lpwstr>
  </property>
  <property fmtid="{D5CDD505-2E9C-101B-9397-08002B2CF9AE}" pid="3" name="KSOProductBuildVer">
    <vt:lpwstr>1049-12.1.0.25862</vt:lpwstr>
  </property>
</Properties>
</file>